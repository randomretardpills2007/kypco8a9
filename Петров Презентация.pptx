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0" r:id="rId14"/>
    <p:sldId id="268" r:id="rId15"/>
    <p:sldId id="269" r:id="rId16"/>
    <p:sldId id="278" r:id="rId17"/>
    <p:sldId id="270" r:id="rId18"/>
    <p:sldId id="279" r:id="rId19"/>
    <p:sldId id="271" r:id="rId20"/>
    <p:sldId id="273" r:id="rId21"/>
    <p:sldId id="272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F0FC6-D54B-43DE-AFEC-1A5D1AFFC0A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1824B-9FB3-4666-A544-E6F760165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1824B-9FB3-4666-A544-E6F760165A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3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2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8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4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63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70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66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7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2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084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7606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804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590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62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901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184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3D2E2-2307-4CAE-AE0F-A325FD4D4B38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18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C6F788-AE8B-0A90-C0BC-D3D6E73A6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«Салон Оптики»»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7023824" y="3960067"/>
            <a:ext cx="4850296" cy="228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Выполнил: Петров М. А.,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24-9-1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95431" y="668600"/>
            <a:ext cx="7729728" cy="785731"/>
          </a:xfrm>
        </p:spPr>
        <p:txBody>
          <a:bodyPr>
            <a:normAutofit fontScale="90000"/>
          </a:bodyPr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159726" y="1706881"/>
            <a:ext cx="7801138" cy="431182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/>
              <a:t>Магазин оптики</a:t>
            </a:r>
            <a:r>
              <a:rPr lang="ru-RU" dirty="0"/>
              <a:t> — это предприятие розничной торговли, осуществляющее продажу очков, оправ, контактных линз и аксессуаров через сайт-витрину с последующим обслуживанием клиентов в салоне.</a:t>
            </a:r>
          </a:p>
          <a:p>
            <a:pPr>
              <a:buNone/>
            </a:pPr>
            <a:r>
              <a:rPr lang="ru-RU" b="1" dirty="0"/>
              <a:t>Основные бизнес-процессы:</a:t>
            </a:r>
            <a:endParaRPr lang="ru-RU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Ведение каталога товаров (оправы, линзы, очки, аксессуары, растворы)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Приём заявок через сайт-витрину (без онлайн-оплаты, только контакты)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Обработка заявок менеджером (звонок клиенту, подтверждение визита)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Контроль складских остатков и автоматическая аннуляция невостребованных заказов по истечении трёх дней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Проведение продаж в салоне с выдачей товара и чека</a:t>
            </a:r>
          </a:p>
        </p:txBody>
      </p:sp>
    </p:spTree>
    <p:extLst>
      <p:ext uri="{BB962C8B-B14F-4D97-AF65-F5344CB8AC3E}">
        <p14:creationId xmlns:p14="http://schemas.microsoft.com/office/powerpoint/2010/main" val="407688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013" y="781811"/>
            <a:ext cx="7932637" cy="968611"/>
          </a:xfrm>
        </p:spPr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9681" y="2054571"/>
            <a:ext cx="7932637" cy="3597292"/>
          </a:xfrm>
        </p:spPr>
        <p:txBody>
          <a:bodyPr>
            <a:noAutofit/>
          </a:bodyPr>
          <a:lstStyle/>
          <a:p>
            <a:r>
              <a:rPr lang="ru-RU" b="1" dirty="0"/>
              <a:t>Ручной ввод данных</a:t>
            </a:r>
            <a:r>
              <a:rPr lang="ru-RU" dirty="0"/>
              <a:t> → ошибки в артикулах и количестве, опечатки в контактах клиентов</a:t>
            </a:r>
          </a:p>
          <a:p>
            <a:r>
              <a:rPr lang="ru-RU" b="1" dirty="0"/>
              <a:t>Дублирование операций</a:t>
            </a:r>
            <a:r>
              <a:rPr lang="ru-RU" dirty="0"/>
              <a:t> → многократная ручная проверка наличия на складе</a:t>
            </a:r>
          </a:p>
          <a:p>
            <a:r>
              <a:rPr lang="ru-RU" b="1" dirty="0"/>
              <a:t>Отсутствие единой базы</a:t>
            </a:r>
            <a:r>
              <a:rPr lang="ru-RU" dirty="0"/>
              <a:t> → трудно отследить статусы заказов, низкая прозрачность складских запасов</a:t>
            </a:r>
          </a:p>
          <a:p>
            <a:r>
              <a:rPr lang="ru-RU" b="1" dirty="0"/>
              <a:t>Нет системы уведомлений</a:t>
            </a:r>
            <a:r>
              <a:rPr lang="ru-RU" dirty="0"/>
              <a:t> → риск пропустить новый заказ, забыть подтвердить визит, упустить сроки пополнения товаров</a:t>
            </a:r>
          </a:p>
          <a:p>
            <a:r>
              <a:rPr lang="ru-RU" b="1" dirty="0"/>
              <a:t>Ручной учёт остатков</a:t>
            </a:r>
            <a:r>
              <a:rPr lang="ru-RU" dirty="0"/>
              <a:t> → невозможно оперативно выявить дефицитные позиции (товары с остатком менее 3 штук)</a:t>
            </a:r>
          </a:p>
        </p:txBody>
      </p:sp>
    </p:spTree>
    <p:extLst>
      <p:ext uri="{BB962C8B-B14F-4D97-AF65-F5344CB8AC3E}">
        <p14:creationId xmlns:p14="http://schemas.microsoft.com/office/powerpoint/2010/main" val="32359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3451" y="781813"/>
            <a:ext cx="7729728" cy="1188720"/>
          </a:xfrm>
        </p:spPr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97546" y="2289049"/>
            <a:ext cx="2891086" cy="4067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Цель проекта:</a:t>
            </a:r>
          </a:p>
          <a:p>
            <a:pPr marL="0" indent="0">
              <a:buNone/>
            </a:pPr>
            <a:r>
              <a:rPr lang="ru-RU" sz="2000" dirty="0"/>
              <a:t>Проектирование и разработка информационной системы для автоматизации торговых операций, управления складскими запасами, ускорения обработки заказов и контроля остатков товаров в магазине оптики.</a:t>
            </a:r>
            <a:endParaRPr lang="ru-RU" sz="24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288632" y="2289049"/>
            <a:ext cx="8505822" cy="39192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/>
              <a:t>Задачи:</a:t>
            </a:r>
            <a:endParaRPr lang="ru-RU" sz="1800" dirty="0"/>
          </a:p>
          <a:p>
            <a:r>
              <a:rPr lang="ru-RU" sz="1800" dirty="0"/>
              <a:t>Провести анализ предметной области розничной торговли оптикой и обосновать необходимость автоматизации</a:t>
            </a:r>
          </a:p>
          <a:p>
            <a:r>
              <a:rPr lang="ru-RU" sz="1800" dirty="0"/>
              <a:t>Разработать функциональные требования и смоделировать бизнес-процессы (AS-IS → TO-BE) с использованием методологий визуального моделирования (IDEF0, DFD, UML)</a:t>
            </a:r>
          </a:p>
          <a:p>
            <a:r>
              <a:rPr lang="ru-RU" sz="1800" dirty="0"/>
              <a:t>Спроектировать структуру нормализованной реляционной базы данных (концептуальная, логическая и физическая модели)</a:t>
            </a:r>
          </a:p>
          <a:p>
            <a:r>
              <a:rPr lang="ru-RU" sz="1800" dirty="0"/>
              <a:t>Разработать эскизный проект пользовательского интерфейса (витрина для посетителей и CRM-панель для менеджеров)</a:t>
            </a:r>
          </a:p>
          <a:p>
            <a:r>
              <a:rPr lang="ru-RU" sz="1800" dirty="0"/>
              <a:t>Создать техническое задание и руководство пользователя</a:t>
            </a: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786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type="body" idx="1"/>
          </p:nvPr>
        </p:nvSpPr>
        <p:spPr>
          <a:xfrm>
            <a:off x="1583436" y="2340866"/>
            <a:ext cx="4270248" cy="70408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dirty="0"/>
              <a:t>Объект исследования: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Бизнес-процессы магазина оптики, связанные с управлением ассортиментом и складскими запасами, обработкой заказов клиентов, учётом посетителей и проведением продаж, а также автоматической аннуляцией невостребованных заявок.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416770" cy="2596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Информационная CRM-система для магазина оптики, методы проектирования баз данных каталога товаров с фильтрами по типу оптики (оправы, линзы, очки, аксессуары), алгоритмы автоматизации процессов оформления заявок, управления складом и контроля остатков.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Предмет исследования: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4427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555027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    	  Контекстная </a:t>
            </a:r>
            <a:r>
              <a:rPr lang="en-US" dirty="0"/>
              <a:t> </a:t>
            </a:r>
            <a:r>
              <a:rPr lang="ru-RU" dirty="0"/>
              <a:t>Диаграмма </a:t>
            </a:r>
            <a:r>
              <a:rPr lang="en-US" dirty="0"/>
              <a:t>idef0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FCDD7-BDD9-B321-9A0E-6045FBCC1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85" b="60322"/>
          <a:stretch>
            <a:fillRect/>
          </a:stretch>
        </p:blipFill>
        <p:spPr>
          <a:xfrm>
            <a:off x="2412035" y="2374055"/>
            <a:ext cx="7036765" cy="40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396" y="297213"/>
            <a:ext cx="8785208" cy="803000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ДЕКОМПОЗИЦИЯ </a:t>
            </a:r>
            <a:br>
              <a:rPr lang="ru-RU" dirty="0"/>
            </a:br>
            <a:r>
              <a:rPr lang="ru-RU" dirty="0"/>
              <a:t>ДИАГРАММЫ </a:t>
            </a:r>
            <a:r>
              <a:rPr lang="en-US" dirty="0"/>
              <a:t>IDEF0 </a:t>
            </a:r>
            <a:r>
              <a:rPr lang="ru-RU" dirty="0"/>
              <a:t>(1ур.)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9C938AE-4CAA-3928-769A-A5A9A94CD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t="41130" r="-1"/>
          <a:stretch>
            <a:fillRect/>
          </a:stretch>
        </p:blipFill>
        <p:spPr>
          <a:xfrm>
            <a:off x="510069" y="1184217"/>
            <a:ext cx="11171862" cy="52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9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0092" y="414964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Контекстная </a:t>
            </a:r>
            <a:br>
              <a:rPr lang="ru-RU" dirty="0"/>
            </a:br>
            <a:r>
              <a:rPr lang="ru-RU" dirty="0"/>
              <a:t>ДИАГРАММА DFD </a:t>
            </a:r>
            <a:br>
              <a:rPr lang="en-US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868669-0DAC-CE4E-9B2E-FF60C427F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9631" y="2654300"/>
            <a:ext cx="5992737" cy="37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07300" y="317501"/>
            <a:ext cx="4229100" cy="1231899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DFD</a:t>
            </a:r>
            <a:r>
              <a:rPr lang="ru-RU" dirty="0"/>
              <a:t> (1ур.)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6BF782C-9220-1608-DCC7-8D5DF105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97" y="171095"/>
            <a:ext cx="7270014" cy="575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4163" y="152400"/>
            <a:ext cx="7729728" cy="1188720"/>
          </a:xfrm>
        </p:spPr>
        <p:txBody>
          <a:bodyPr/>
          <a:lstStyle/>
          <a:p>
            <a:r>
              <a:rPr lang="ru-RU" dirty="0"/>
              <a:t>Техническое задание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13509" y="1514275"/>
            <a:ext cx="5573486" cy="4790367"/>
          </a:xfrm>
        </p:spPr>
        <p:txBody>
          <a:bodyPr>
            <a:normAutofit fontScale="25000" lnSpcReduction="20000"/>
          </a:bodyPr>
          <a:lstStyle/>
          <a:p>
            <a:pPr algn="l">
              <a:buNone/>
            </a:pPr>
            <a:r>
              <a:rPr lang="ru-RU" sz="7200" b="1" i="0" dirty="0">
                <a:solidFill>
                  <a:srgbClr val="1D1D1F"/>
                </a:solidFill>
                <a:effectLst/>
                <a:latin typeface="system-ui"/>
              </a:rPr>
              <a:t>Основная цель разработки ИС:</a:t>
            </a:r>
          </a:p>
          <a:p>
            <a:pPr fontAlgn="t">
              <a:lnSpc>
                <a:spcPct val="120000"/>
              </a:lnSpc>
              <a:buNone/>
            </a:pPr>
            <a:r>
              <a:rPr lang="ru-RU" sz="4900" dirty="0"/>
              <a:t>	</a:t>
            </a:r>
            <a:r>
              <a:rPr lang="ru-RU" sz="5600" dirty="0"/>
              <a:t>Создание проекта информационной системы для магазина оптики с функциями хранения данных о посетителях и товарах, автоматизированной обработки заказов, управления складскими запасами, генерации чеков и контроля выполнения заявок</a:t>
            </a:r>
          </a:p>
          <a:p>
            <a:pPr fontAlgn="t">
              <a:buNone/>
            </a:pPr>
            <a:r>
              <a:rPr lang="ru-RU" sz="7200" b="1" i="0" dirty="0">
                <a:solidFill>
                  <a:srgbClr val="1D1D1F"/>
                </a:solidFill>
                <a:effectLst/>
                <a:latin typeface="system-ui"/>
              </a:rPr>
              <a:t>Этапы разработки:</a:t>
            </a:r>
          </a:p>
          <a:p>
            <a:r>
              <a:rPr lang="ru-RU" sz="6400" dirty="0"/>
              <a:t>Анализ предметной области и сравнение систем-аналогов</a:t>
            </a:r>
          </a:p>
          <a:p>
            <a:r>
              <a:rPr lang="ru-RU" sz="6400" dirty="0"/>
              <a:t>Функциональное моделирование бизнес-процессов (IDEF0 AS-IS, DFD TO-BE)</a:t>
            </a:r>
          </a:p>
          <a:p>
            <a:r>
              <a:rPr lang="ru-RU" sz="6400" dirty="0"/>
              <a:t>Разработка UML-диаграмм (</a:t>
            </a:r>
            <a:r>
              <a:rPr lang="ru-RU" sz="6400" dirty="0" err="1"/>
              <a:t>Use</a:t>
            </a:r>
            <a:r>
              <a:rPr lang="ru-RU" sz="6400" dirty="0"/>
              <a:t> Case, </a:t>
            </a:r>
            <a:r>
              <a:rPr lang="ru-RU" sz="6400" dirty="0" err="1"/>
              <a:t>Activity</a:t>
            </a:r>
            <a:r>
              <a:rPr lang="ru-RU" sz="6400" dirty="0"/>
              <a:t>, </a:t>
            </a:r>
            <a:r>
              <a:rPr lang="ru-RU" sz="6400" dirty="0" err="1"/>
              <a:t>Sequence</a:t>
            </a:r>
            <a:r>
              <a:rPr lang="ru-RU" sz="6400" dirty="0"/>
              <a:t>, Class)</a:t>
            </a:r>
          </a:p>
          <a:p>
            <a:r>
              <a:rPr lang="ru-RU" sz="6400" dirty="0"/>
              <a:t>Проектирование базы данных (концептуальная, логическая, физическая модели)</a:t>
            </a:r>
          </a:p>
          <a:p>
            <a:r>
              <a:rPr lang="ru-RU" sz="6400" dirty="0"/>
              <a:t>Разработка эскизного проекта пользовательского интерфейса (витрина + CRM)</a:t>
            </a:r>
          </a:p>
          <a:p>
            <a:r>
              <a:rPr lang="ru-RU" sz="6400" dirty="0"/>
              <a:t>Создание технического задания и руководства пользователя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7334249" y="1509195"/>
            <a:ext cx="4544241" cy="430268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ru-RU" sz="7200" b="1" dirty="0"/>
              <a:t>Функциональные требования:</a:t>
            </a:r>
            <a:r>
              <a:rPr lang="ru-RU" sz="7200" dirty="0"/>
              <a:t> </a:t>
            </a:r>
          </a:p>
          <a:p>
            <a:r>
              <a:rPr lang="ru-RU" sz="6400" dirty="0"/>
              <a:t>CRUD-операции с товарами, категориями, посетителями и заказами</a:t>
            </a:r>
          </a:p>
          <a:p>
            <a:r>
              <a:rPr lang="ru-RU" sz="6400" dirty="0"/>
              <a:t>Поиск и фильтрация товаров по типу оптики, цене, наличию</a:t>
            </a:r>
          </a:p>
          <a:p>
            <a:r>
              <a:rPr lang="ru-RU" sz="6400" dirty="0"/>
              <a:t>Корзина и оформление заявки с вводом контактов (ФИО, телефон)</a:t>
            </a:r>
          </a:p>
          <a:p>
            <a:r>
              <a:rPr lang="ru-RU" sz="6400" dirty="0"/>
              <a:t>Системное логирование действий и уведомления о новых заказах</a:t>
            </a:r>
          </a:p>
          <a:p>
            <a:r>
              <a:rPr lang="ru-RU" sz="6400" dirty="0"/>
              <a:t>Автоматическая аннуляция невостребованных заказов по истечении трёх дней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4985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221" y="2834640"/>
            <a:ext cx="548944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UML диаграмма вариантов использования (</a:t>
            </a:r>
            <a:r>
              <a:rPr lang="ru-RU" dirty="0" err="1"/>
              <a:t>UseCase</a:t>
            </a:r>
            <a:r>
              <a:rPr lang="ru-RU" dirty="0"/>
              <a:t>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58D1757-9A8D-FE98-9B7C-FE01E57E6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0332" y="368300"/>
            <a:ext cx="5214799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2318" y="2983497"/>
            <a:ext cx="8647363" cy="891005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деятельности (</a:t>
            </a:r>
            <a:r>
              <a:rPr lang="en-US" dirty="0"/>
              <a:t>Activity)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13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47C5-BA6C-998C-FA59-856992A9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E4A156-76A6-7E44-E5A4-51220A20D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74"/>
          <a:stretch>
            <a:fillRect/>
          </a:stretch>
        </p:blipFill>
        <p:spPr>
          <a:xfrm>
            <a:off x="0" y="-1"/>
            <a:ext cx="5918200" cy="68580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CEDF91-1971-DDD6-D7DF-C9A808E7B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72"/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57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4214" y="2858250"/>
            <a:ext cx="4486656" cy="1141497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последовательности (</a:t>
            </a:r>
            <a:r>
              <a:rPr lang="en-US" dirty="0"/>
              <a:t>Sequence)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A703DB-D763-EAEE-8D05-D20350B03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05"/>
            <a:ext cx="5537200" cy="686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42200" y="289407"/>
            <a:ext cx="4571999" cy="1785354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классов (</a:t>
            </a:r>
            <a:r>
              <a:rPr lang="en-US" dirty="0"/>
              <a:t>Class)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CBF9FDC-5F46-DABF-7948-F69FA083E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354815"/>
            <a:ext cx="5638800" cy="550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F620-B654-4FF4-AC04-C21E87E2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FD04C-9B9C-77F6-9F98-10D6550A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167304"/>
            <a:ext cx="5985763" cy="889971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Концептуальная модель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4F3F8CD-1A20-1B71-C99A-D60EE7198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6" b="-1"/>
          <a:stretch>
            <a:fillRect/>
          </a:stretch>
        </p:blipFill>
        <p:spPr>
          <a:xfrm>
            <a:off x="-1" y="1432895"/>
            <a:ext cx="882522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5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07468B-C23E-3E4E-75B0-15424F860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20" y="752579"/>
            <a:ext cx="10297748" cy="591465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34757" y="239397"/>
            <a:ext cx="4395538" cy="1026363"/>
          </a:xfrm>
        </p:spPr>
        <p:txBody>
          <a:bodyPr>
            <a:normAutofit fontScale="90000"/>
          </a:bodyPr>
          <a:lstStyle/>
          <a:p>
            <a:r>
              <a:rPr lang="ru-RU" dirty="0"/>
              <a:t>ЛОГИЧЕСКАЯ МОДЕЛЬ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35294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C54E-187A-C5CB-5D0B-7B1DD838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7ABCF-8C5A-AEA3-928A-572F90D6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485" y="423512"/>
            <a:ext cx="7729728" cy="968141"/>
          </a:xfrm>
        </p:spPr>
        <p:txBody>
          <a:bodyPr>
            <a:normAutofit fontScale="90000"/>
          </a:bodyPr>
          <a:lstStyle/>
          <a:p>
            <a:r>
              <a:rPr lang="ru-RU" dirty="0"/>
              <a:t>Физическая модель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B1A3C0-8DA1-AA5C-8AD3-4E52A0CA3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11" y="1391653"/>
            <a:ext cx="8464577" cy="51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61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17110" y="447780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9030" y="1927653"/>
            <a:ext cx="7729728" cy="407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Все товары в наличии: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0CD6F3-8AE4-5AF0-D67C-4056E3A25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9030" y="3072197"/>
            <a:ext cx="8213939" cy="32075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F98799-F15F-D058-04AB-405F0B047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30" y="2626121"/>
            <a:ext cx="8213938" cy="4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42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298060" y="462811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055407" y="2073179"/>
            <a:ext cx="7729728" cy="53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Все клиенты, которые что-то заказывали: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D3A526-76AE-CCB2-53A8-D3D69681D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408" y="3027855"/>
            <a:ext cx="8081183" cy="26738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5D0433-D42D-54E8-3491-D2DDFDDD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407" y="3026910"/>
            <a:ext cx="8081183" cy="40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67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0E8C51-0698-37CF-026E-E0536FDEF8CE}"/>
              </a:ext>
            </a:extLst>
          </p:cNvPr>
          <p:cNvSpPr txBox="1"/>
          <p:nvPr/>
        </p:nvSpPr>
        <p:spPr>
          <a:xfrm>
            <a:off x="3274845" y="29435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69461" y="514195"/>
            <a:ext cx="7729728" cy="1188720"/>
          </a:xfrm>
        </p:spPr>
        <p:txBody>
          <a:bodyPr/>
          <a:lstStyle/>
          <a:p>
            <a:r>
              <a:rPr lang="ru-RU" dirty="0"/>
              <a:t>Проверочные ЗАПРОСЫ К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8776" y="2103397"/>
            <a:ext cx="7234397" cy="43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Что сейчас лежит в корзинах пользователей: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9616C1-F431-A5ED-1BA3-1DDBE6C3C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776" y="3428999"/>
            <a:ext cx="9891850" cy="18977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56210D-602D-4AE1-ABCF-598B28E2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67" y="2943544"/>
            <a:ext cx="9842159" cy="4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62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8986" y="358085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EAA885-6213-21CF-AB02-46FE44D1D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0075" y="2090680"/>
            <a:ext cx="5202334" cy="4507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F80C0A-4B38-281E-9748-25744831DA9C}"/>
              </a:ext>
            </a:extLst>
          </p:cNvPr>
          <p:cNvSpPr txBox="1"/>
          <p:nvPr/>
        </p:nvSpPr>
        <p:spPr>
          <a:xfrm>
            <a:off x="1913879" y="2090680"/>
            <a:ext cx="2496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Каталог </a:t>
            </a:r>
          </a:p>
          <a:p>
            <a:r>
              <a:rPr lang="ru-RU" dirty="0"/>
              <a:t>(главная страница):</a:t>
            </a:r>
          </a:p>
        </p:txBody>
      </p:sp>
    </p:spTree>
    <p:extLst>
      <p:ext uri="{BB962C8B-B14F-4D97-AF65-F5344CB8AC3E}">
        <p14:creationId xmlns:p14="http://schemas.microsoft.com/office/powerpoint/2010/main" val="1907778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621786" y="484875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3CFA52-47A5-B446-F465-8C3B43CC0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233" y="2908640"/>
            <a:ext cx="5379122" cy="31695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DED688-0858-0678-7139-204B17413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3071" y="2602399"/>
            <a:ext cx="5940425" cy="3500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257E97-2975-0DA4-BD99-10022A376982}"/>
              </a:ext>
            </a:extLst>
          </p:cNvPr>
          <p:cNvSpPr txBox="1"/>
          <p:nvPr/>
        </p:nvSpPr>
        <p:spPr>
          <a:xfrm>
            <a:off x="481233" y="2417733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Корзина: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F6050-A3C9-42AA-EB99-16D82A8003F4}"/>
              </a:ext>
            </a:extLst>
          </p:cNvPr>
          <p:cNvSpPr txBox="1"/>
          <p:nvPr/>
        </p:nvSpPr>
        <p:spPr>
          <a:xfrm>
            <a:off x="6096000" y="2068021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Форма для заказа:</a:t>
            </a:r>
          </a:p>
        </p:txBody>
      </p:sp>
    </p:spTree>
    <p:extLst>
      <p:ext uri="{BB962C8B-B14F-4D97-AF65-F5344CB8AC3E}">
        <p14:creationId xmlns:p14="http://schemas.microsoft.com/office/powerpoint/2010/main" val="1509992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984" y="458065"/>
            <a:ext cx="7729728" cy="118872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8097" y="1902941"/>
            <a:ext cx="9316995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	В ходе курсового проекта по теме «Проектирование ИС «Магазин оптики»» была спроектирована информационная система, предоставляющая возможность управления каталогом товаров, обработки заказов клиентов, ведения учёта складских запасов, автоматической аннуляции невостребованных заявок и контроля выполнения заказов.</a:t>
            </a:r>
          </a:p>
          <a:p>
            <a:pPr marL="0" indent="0">
              <a:buNone/>
            </a:pPr>
            <a:r>
              <a:rPr lang="ru-RU" sz="2000" dirty="0"/>
              <a:t>	Разработка этого проекта представляет собой важный шаг в сфере розничной торговли оптическими товарами, обеспечивая удобный и доступный способ учёта посетителей, товаров в наличии и заказов. </a:t>
            </a:r>
          </a:p>
          <a:p>
            <a:pPr marL="0" indent="0">
              <a:buNone/>
            </a:pPr>
            <a:r>
              <a:rPr lang="ru-RU" sz="2000" dirty="0"/>
              <a:t>	Спроектированная система обеспечит устойчивое конкурентное преимущество, снижение операционных издержек, автоматизацию бизнес-процессов и переход к клиентоориентированной модели обслуживания с возможностью контроля складских остатков и аналитики продаж.</a:t>
            </a:r>
          </a:p>
        </p:txBody>
      </p:sp>
    </p:spTree>
    <p:extLst>
      <p:ext uri="{BB962C8B-B14F-4D97-AF65-F5344CB8AC3E}">
        <p14:creationId xmlns:p14="http://schemas.microsoft.com/office/powerpoint/2010/main" val="1814063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48553" y="2697698"/>
            <a:ext cx="7729728" cy="118872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591347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Другая 1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7F7B99"/>
      </a:accent6>
      <a:hlink>
        <a:srgbClr val="6B9F25"/>
      </a:hlink>
      <a:folHlink>
        <a:srgbClr val="9F6715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258</TotalTime>
  <Words>764</Words>
  <Application>Microsoft Office PowerPoint</Application>
  <PresentationFormat>Широкоэкранный</PresentationFormat>
  <Paragraphs>82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system-ui</vt:lpstr>
      <vt:lpstr>Times New Roman</vt:lpstr>
      <vt:lpstr>Wingdings</vt:lpstr>
      <vt:lpstr>След самолета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       Контекстная  Диаграмма idef0</vt:lpstr>
      <vt:lpstr>ДЕКОМПОЗИЦИЯ  ДИАГРАММЫ IDEF0 (1ур.)</vt:lpstr>
      <vt:lpstr>Контекстная  ДИАГРАММА DFD  </vt:lpstr>
      <vt:lpstr>ДЕКОМПОЗИЦИЯ ДИАГРАММЫ DFD (1ур.)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Презентация PowerPoint</vt:lpstr>
      <vt:lpstr>UML диаграмма последовательности (Sequence)</vt:lpstr>
      <vt:lpstr>UML диаграмма классов (Class)</vt:lpstr>
      <vt:lpstr>Концептуальная модель данных</vt:lpstr>
      <vt:lpstr>ЛОГИЧЕСКАЯ МОДЕЛЬ ДАННЫХ</vt:lpstr>
      <vt:lpstr>Физическая модель данных</vt:lpstr>
      <vt:lpstr>АНАЛИТИЧЕСКИЕ ЗАПРОСЫ К БАЗЕ ДАННЫХ</vt:lpstr>
      <vt:lpstr>АНАЛИТИЧЕСКИЕ ЗАПРОСЫ К БАЗЕ ДАННЫХ</vt:lpstr>
      <vt:lpstr>Проверочные ЗАПРОСЫ К БАЗЕ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Miron Ipotacdmdsniwfr</cp:lastModifiedBy>
  <cp:revision>24</cp:revision>
  <dcterms:created xsi:type="dcterms:W3CDTF">2026-05-05T04:42:58Z</dcterms:created>
  <dcterms:modified xsi:type="dcterms:W3CDTF">2026-05-11T15:11:10Z</dcterms:modified>
</cp:coreProperties>
</file>